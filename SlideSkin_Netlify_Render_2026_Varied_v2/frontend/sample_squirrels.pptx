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asking the audience what they associate with squirrels. Explain that this talk covers more than backyard tree squirrels: it includes the whole squirrel family, its history, adaptations, and ecosystem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squirrels from other rodents: Sciuridae is one branch of Rodentia. Tree squirrels are only a subset. Explain that species totals vary as taxonomy is revised.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fossils give minimum ages, not necessarily the exact date the family originated. Mention that modern species are not unchanged ancient animals; they continue to evolve.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flying squirrels glide rather than flap their wings. Many species fit broad groups imperfectly, and the categories are a teaching tool rather than a complete phylogeny.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a squirrel descending a trunk headfirst: hind feet can rotate to improve grip. Tail function varies by species and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saying squirrels are strictly herbivores. Their diets are flexible, and local food supply shapes feeding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scatter-hoarding versus larder-hoarding. Some caches are stolen by other animals. Not every buried seed grows: conditions and seed viability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tail flick with your hand. Note that there is no single squirrel language shared across all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species variation: do not give one gestation length for all squirrels. A drey is typically a nest of leaves and twigs high in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Predators vary by region and squirrel species. Explain that being common in cities does not make squirrels invulnerable.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phrase accidental gardeners carefully: many seeds are eaten, and some buried seeds never sprout. Ecological impacts depend on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some squirrels thrive around people while other squirrel species are threatened. Recommend watching wildlife at a distance and following local wildlife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audience to pick the most surprising fact. Clarify that hibernation and gliding are species-specific rather than universal squirrel 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three key takeaways: squirrels are diverse, their behavior reflects specialized adaptations, and they influence ecosystems.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suggested reference starting points, not an assertion that every fact in the deck was checked against each source. For research or publication, verify specific claims against primary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22412F"/>
                </a:solidFill>
                <a:latin typeface="Aptos"/>
              </a:defRPr>
            </a:pPr>
            <a:r>
              <a:t>SQUIRRELS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An illustrated field guide to their history, biology, behavior, and ecological importance</a:t>
            </a:r>
          </a:p>
        </p:txBody>
      </p:sp>
      <p:pic>
        <p:nvPicPr>
          <p:cNvPr id="5" name="Picture 4" descr="scen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56231"/>
            <a:ext cx="6217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2412F"/>
                </a:solidFill>
                <a:latin typeface="Aptos"/>
              </a:defRPr>
            </a:pPr>
            <a:r>
              <a:t>A closer look at the animals all around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01  WHAT IS A SQUIRREL?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A surprisingly diverse family</a:t>
            </a:r>
          </a:p>
        </p:txBody>
      </p:sp>
      <p:pic>
        <p:nvPicPr>
          <p:cNvPr id="5" name="Picture 4" descr="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Squirrels are rodents in the family Sciuridae, which includes tree squirrels, ground squirrels, chipmunks, marmots, and flying squirrels.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The family contains more than 280 living species, depending on the classification used.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Like other rodents, squirrels have continuously growing incisors used for gnawing.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They occur in forests, grasslands, mountains, deserts, and urban neighborhoods.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02  DEEP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How squirrels evolved</a:t>
            </a:r>
          </a:p>
        </p:txBody>
      </p:sp>
      <p:pic>
        <p:nvPicPr>
          <p:cNvPr id="5" name="Picture 4" descr="scen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The squirrel fossil record extends back roughly 36 million years, to the late Eocene.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Early squirrel relatives lived as mammals and habitats diversified through the Cenozoic 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Tree-dwelling, ground-dwelling, and gliding lifestyles evolved in different lineages.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Continental change, climate, and vegetation helped shape where species live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03  THE SQUIRREL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Three familiar ways of life</a:t>
            </a:r>
          </a:p>
        </p:txBody>
      </p:sp>
      <p:pic>
        <p:nvPicPr>
          <p:cNvPr id="5" name="Picture 4" descr="scen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Tree squirrels: agile climbers, often active during daylight, with long tails and arboreal nests.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Ground squirrels: many use burrows; some live in colonies and communicate with alarm calls.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Flying squirrels: nocturnal gliders using a skin membrane called the patagium.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Chipmunks and marmots show how different squirrel body sizes and habitats can 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04  BUILT TO CLIMB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Anatomy and physical adaptations</a:t>
            </a:r>
          </a:p>
        </p:txBody>
      </p:sp>
      <p:pic>
        <p:nvPicPr>
          <p:cNvPr id="5" name="Picture 4" descr="scen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Sharp, curved claws grip bark; flexible ankles help some tree squirrels descend headfirst.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Strong hind legs propel jumps between branches and across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A long tail can help balance, steer, signal, and provide warmth.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Large eyes, whiskers, and sensitive hearing help detect obstacles and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05  WHAT THEY 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More than just acorns</a:t>
            </a:r>
          </a:p>
        </p:txBody>
      </p:sp>
      <p:pic>
        <p:nvPicPr>
          <p:cNvPr id="5" name="Picture 4" descr="scen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Many species eat nuts, seeds, buds, fruits, flowers, and fungi.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Some also eat insects, eggs, or other animal foods when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Diet changes with season, geography, and the species of squirrel.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Hard seeds and nuts reward strong incisors and skillful food handling.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06  THE ART OF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Food storage and spatial memory</a:t>
            </a:r>
          </a:p>
        </p:txBody>
      </p:sp>
      <p:pic>
        <p:nvPicPr>
          <p:cNvPr id="5" name="Picture 4" descr="scen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Scatter-hoarding squirrels bury food in many separate locations rather than one large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They use spatial cues and smell to locate caches; recovery is not perfect.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Stored food helps buffer periods when fresh food is scarce.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Unrecovered viable seeds may germinate, linking squirrel behavior to plant recruitment.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07 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Calls, tails, and social signals</a:t>
            </a:r>
          </a:p>
        </p:txBody>
      </p:sp>
      <p:pic>
        <p:nvPicPr>
          <p:cNvPr id="5" name="Picture 4" descr="scen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Alarm calls can signal nearby predators; different calls may reflect different threats.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Tail flicking, posture, and chasing are important visual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Scent marking helps communicate in some species and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Social systems vary widely: some are mostly solitary, while others form groups or colonies.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08 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From newborn to independent</a:t>
            </a:r>
          </a:p>
        </p:txBody>
      </p:sp>
      <p:pic>
        <p:nvPicPr>
          <p:cNvPr id="5" name="Picture 4" descr="scen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Gestation and litter size vary by species, food availability, and climate.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Tree squirrel young are born helpless and develop in protected nests called dreys or cavities.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Parents—often mothers—provide milk and care until young are ready to forage.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Juveniles learn to navigate, feed, avoid predators, and establish their own ranges.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09  PREDATORS &amp; SURVIVAL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Life is full of risks</a:t>
            </a:r>
          </a:p>
        </p:txBody>
      </p:sp>
      <p:pic>
        <p:nvPicPr>
          <p:cNvPr id="5" name="Picture 4" descr="scen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Hawks, owls, foxes, snakes, and domestic cats may prey on squirrels.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Camouflage, rapid climbing, vigilance, and alarm calls reduce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Some ground squirrels retreat into burrows; flying squirrels often rely on nighttime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Survival also depends on food, disease, weather, and suitable nesting habitat.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10  FOREST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Why squirrels matter to ecosystems</a:t>
            </a:r>
          </a:p>
        </p:txBody>
      </p:sp>
      <p:pic>
        <p:nvPicPr>
          <p:cNvPr id="5" name="Picture 4" descr="scen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Seed dispersal: caching can move nuts away from the parent tree.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Food webs: squirrels are prey and also consumers of plants and fungi.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Fungal relationships: some squirrels eat fungi and disperse spores.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Their influence can be positive, negative, or neutral depending on the species and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11  LIVING WITH HUMANS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Urban wildlife and conservation</a:t>
            </a:r>
          </a:p>
        </p:txBody>
      </p:sp>
      <p:pic>
        <p:nvPicPr>
          <p:cNvPr id="5" name="Picture 4" descr="scen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Parks, mature trees, and connected green spaces can support some squirrel species.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Feeding wildlife can alter behavior, crowd animals, and create conflict.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Roads, habitat fragmentation, invasive species, and disease can threaten populations.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Conservation needs differ: abundant urban species and rare forest specialists face different challenges.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12  FIVE SURPRISING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Small mammals, remarkable abilities</a:t>
            </a:r>
          </a:p>
        </p:txBody>
      </p:sp>
      <p:pic>
        <p:nvPicPr>
          <p:cNvPr id="5" name="Picture 4" descr="scen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828800"/>
            <a:ext cx="4251960" cy="4407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1847088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Flying squirrels glide by stretching a patagium between limbs.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89504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Some ground squirrels hibernate; not all squirrels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31920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A squirrel’s incisors keep growing and are worn down by gnawing.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974336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Tree squirrels can descend headfirst using specialized ankle mobility.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6016752"/>
            <a:ext cx="63825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412F"/>
                </a:solidFill>
                <a:latin typeface="Aptos"/>
              </a:defRPr>
            </a:pPr>
            <a:r>
              <a:t>• Some squirrel species have complex alarm calls and social relationships.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22412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The next time you see a squirrel, notice the biology, history, and ecosystem story behind it.</a:t>
            </a:r>
          </a:p>
        </p:txBody>
      </p:sp>
      <p:pic>
        <p:nvPicPr>
          <p:cNvPr id="5" name="Picture 4" descr="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56231"/>
            <a:ext cx="62179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22412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6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412F"/>
                </a:solidFill>
                <a:latin typeface="Aptos"/>
              </a:defRPr>
            </a:pPr>
            <a:r>
              <a:t>SOURCES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B46332"/>
                </a:solidFill>
                <a:latin typeface="Aptos"/>
              </a:defRPr>
            </a:pPr>
            <a:r>
              <a:t>Suggested starting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2412F"/>
                </a:solidFill>
                <a:latin typeface="Aptos"/>
              </a:defRPr>
            </a:pPr>
            <a:r>
              <a:t>• Encyclopaedia Britannica — “Squirrel” and “Rodent” overviews.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15184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2412F"/>
                </a:solidFill>
                <a:latin typeface="Aptos"/>
              </a:defRPr>
            </a:pPr>
            <a:r>
              <a:t>• Animal Diversity Web (University of Michigan) — Sciuridae family accounts.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0128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2412F"/>
                </a:solidFill>
                <a:latin typeface="Aptos"/>
              </a:defRPr>
            </a:pPr>
            <a:r>
              <a:t>• Smithsonian National Museum of Natural History — mammal and fossil collections.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05072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2412F"/>
                </a:solidFill>
                <a:latin typeface="Aptos"/>
              </a:defRPr>
            </a:pPr>
            <a:r>
              <a:t>• IUCN Red List — species-specific conservation assessments.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0016"/>
            <a:ext cx="106070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2412F"/>
                </a:solidFill>
                <a:latin typeface="Aptos"/>
              </a:defRPr>
            </a:pPr>
            <a:r>
              <a:t>• Thorington, Koprowski, Steele &amp; Whatton (2012), Squirrels of the World.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6652"/>
                </a:solidFill>
                <a:latin typeface="Aptos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